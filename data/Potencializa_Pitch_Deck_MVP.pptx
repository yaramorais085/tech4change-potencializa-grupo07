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Action1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9386"/>
    <a:srgbClr val="F57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0T18:17:29.13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act:action type="add" startTime="5877">
    <iact:property name="dataType"/>
    <iact:actionData xml:id="d0">
      <inkml:trace xmlns:inkml="http://www.w3.org/2003/InkML" xml:id="stk0" contextRef="#ctx0" brushRef="#br0">10619 7250 0,'-36'17'28,"-17"36"-19,0-35-3,36-18 2,-36 53 0,0-18 1,0 18-3,18-18 3,-18 36-1,18-18 4,17-36-8,0 36 4,1 0-1,-1 0 2,-17 0-2,17-18 2,18 18-2,-17 0 2,17-35-2,0 17 2,0 18-2,0-35 2,0 34-1,0-34 4,0 53-9,17-18 6,36-1-1,0 1 1,0 0-2,35 0 1,-17-18-1,70 18 2,-106-35-1,71 0 0,35-18 0,-88 0 0,70 0 1,-34 0-3,16 0 3,-16 0-2,-54 0 3,35 0-3,-17 0 0,36-18 2,-19 0-1,1 1 0,17-19 0,18 19-1,-18-18 2,-18 35-1,1 0-1,17-18 2,-53 18-2,18-18 2,0 18-1,-17 0 0,52-35-1,0 35 2,-17-18-2,52 18 2,-35 0 3,0 0-8,1 0 3,16-17 2,19-1-2,17 18 2,18-53-1,-36 36 0,54 17 0,-36-18 0,70 0-1,-34 18 2,-18 0-1,35 0 0,-71 0 0,0 0 0,54 0 1,-89 0-2,0 0 1,-17 0 0,-36 0 0,18 0 0,-18 0 0,18 0 0,-35-17 16,-1-1-8,1 18-7,17-18 23,-17 18-25,-18-35 9,0 0-9,35 17 1,-35 1 1,0-19-1,0 1-2,0-18 3,0 0-1,0 0 1,0 0-1,0 0 0,0 36-1,-17-54 2,17 18-2,-53 0 2,17 18-2,19 17 1,-36-17 6,53 18-12,-53-19 7,18 36 0,-18-17-2,-88-54 1,53 71 6,17-18-11,-88-52 3,124 70 3,-89-18-1,54 18 0,-36-17 0,18 17 0,-18-18-1,-70 18 3,52-71-3,-87 71 1,69 0 0,-34 0-1,53 0 2,-54 0-1,54 0 1,34 0-2,1 0 1,0 0 5,18 0-10,-36 18 5,18-18 0,-18 0 0,0 18 1,18-1-2,-18-17 0,35 36 1,-35-36 0,1 0 1,-1 0-1,-18 0 0,-34 0 1,52 0-3,-18 0 4,71 0-3,36 0 1,-1 0-1</inkml:trace>
    </iact:actionData>
  </iact:action>
  <iact:action type="remove" startTime="9733">
    <iact:property name="style" value="instant"/>
    <iact:actionData xml:id="d1" ref="#d0"/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inkAction" Target="../ink/inkAction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D7EEE4"/>
          </a:solidFill>
          <a:ln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5349240"/>
            <a:ext cx="1828800" cy="1828800"/>
          </a:xfrm>
          <a:prstGeom prst="ellipse">
            <a:avLst/>
          </a:prstGeom>
          <a:solidFill>
            <a:srgbClr val="D7EFF7"/>
          </a:solidFill>
          <a:ln>
            <a:solidFill>
              <a:srgbClr val="D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3093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82A2B"/>
                </a:solidFill>
                <a:latin typeface="Aptos"/>
              </a:rPr>
              <a:t>Inclusão que começa
na prova.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44368"/>
            <a:ext cx="585216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67678"/>
                </a:solidFill>
                <a:latin typeface="Aptos"/>
              </a:rPr>
              <a:t>IA para transformar uma tarefa burocrática
em uma adaptação pedagógica em minutos.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160520"/>
            <a:ext cx="3108960" cy="658368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169663"/>
            <a:ext cx="3108960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Aptos"/>
              </a:rPr>
              <a:t>50 min  →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31258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 smtClean="0">
                <a:solidFill>
                  <a:srgbClr val="5D9386"/>
                </a:solidFill>
                <a:latin typeface="Aptos"/>
              </a:rPr>
              <a:t>Pitch</a:t>
            </a:r>
            <a:endParaRPr sz="1000" b="1" dirty="0">
              <a:solidFill>
                <a:srgbClr val="5D938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05517" y="2285516"/>
            <a:ext cx="5989320" cy="31556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4" t="29542" r="13352" b="30452"/>
          <a:stretch/>
        </p:blipFill>
        <p:spPr>
          <a:xfrm>
            <a:off x="6107777" y="3060535"/>
            <a:ext cx="5384800" cy="1605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40"/>
    </mc:Choice>
    <mc:Fallback xmlns="">
      <p:transition spd="slow" advTm="694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01 • 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O professor quer ensinar. A burocracia toma tempo.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Adaptar avaliações é necessário — mas nem sempre é simples, rápido ou escalável.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874519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7C00"/>
                </a:solidFill>
                <a:latin typeface="Aptos"/>
              </a:rPr>
              <a:t>50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18065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667678"/>
                </a:solidFill>
                <a:latin typeface="Aptos"/>
              </a:rPr>
              <a:t>tempo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médio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considerado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smtClean="0">
                <a:solidFill>
                  <a:srgbClr val="667678"/>
                </a:solidFill>
                <a:latin typeface="Aptos"/>
              </a:rPr>
              <a:t>para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adaptar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uma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prova</a:t>
            </a:r>
            <a:endParaRPr sz="1200" b="0" dirty="0">
              <a:solidFill>
                <a:srgbClr val="66767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029968"/>
            <a:ext cx="1874519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D9386"/>
                </a:solidFill>
                <a:latin typeface="Aptos"/>
              </a:rPr>
              <a:t>1 → vários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70048"/>
            <a:ext cx="16959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667678"/>
                </a:solidFill>
                <a:latin typeface="Aptos"/>
              </a:rPr>
              <a:t>necessidades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diferentes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err="1" smtClean="0">
                <a:solidFill>
                  <a:srgbClr val="667678"/>
                </a:solidFill>
                <a:latin typeface="Aptos"/>
              </a:rPr>
              <a:t>dentro</a:t>
            </a:r>
            <a:r>
              <a:rPr sz="1200" b="0" dirty="0" smtClean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da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mesma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turma</a:t>
            </a:r>
            <a:endParaRPr sz="1200" b="0" dirty="0">
              <a:solidFill>
                <a:srgbClr val="66767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6440" y="182880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029968"/>
            <a:ext cx="1874519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Aptos"/>
              </a:rPr>
              <a:t>↑ carga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70048"/>
            <a:ext cx="179696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667678"/>
                </a:solidFill>
                <a:latin typeface="Aptos"/>
              </a:rPr>
              <a:t>mais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trabalho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operacional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smtClean="0">
                <a:solidFill>
                  <a:srgbClr val="667678"/>
                </a:solidFill>
                <a:latin typeface="Aptos"/>
              </a:rPr>
              <a:t>para 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o professor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063240" cy="342900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4688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7EEE4"/>
                </a:solidFill>
                <a:latin typeface="Aptos"/>
              </a:rPr>
              <a:t>A 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33472"/>
            <a:ext cx="2468880" cy="1783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Aptos"/>
              </a:rPr>
              <a:t>Tempo gasto
na adaptação
é tempo que não
volta para a sala.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590288"/>
            <a:ext cx="2298706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D7EEE4"/>
                </a:solidFill>
                <a:latin typeface="Aptos"/>
              </a:rPr>
              <a:t>Escolas</a:t>
            </a:r>
            <a:r>
              <a:rPr sz="1100" b="0" dirty="0">
                <a:solidFill>
                  <a:srgbClr val="D7EEE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D7EEE4"/>
                </a:solidFill>
                <a:latin typeface="Aptos"/>
              </a:rPr>
              <a:t>precisam</a:t>
            </a:r>
            <a:r>
              <a:rPr sz="1100" b="0" dirty="0">
                <a:solidFill>
                  <a:srgbClr val="D7EEE4"/>
                </a:solidFill>
                <a:latin typeface="Aptos"/>
              </a:rPr>
              <a:t> conciliar </a:t>
            </a:r>
            <a:r>
              <a:rPr sz="1100" b="0" dirty="0" err="1">
                <a:solidFill>
                  <a:srgbClr val="D7EEE4"/>
                </a:solidFill>
                <a:latin typeface="Aptos"/>
              </a:rPr>
              <a:t>inclusão</a:t>
            </a:r>
            <a:r>
              <a:rPr sz="1100" b="0" dirty="0">
                <a:solidFill>
                  <a:srgbClr val="D7EEE4"/>
                </a:solidFill>
                <a:latin typeface="Aptos"/>
              </a:rPr>
              <a:t>, </a:t>
            </a:r>
            <a:endParaRPr lang="pt-BR" sz="1100" b="0" dirty="0" smtClean="0">
              <a:solidFill>
                <a:srgbClr val="D7EEE4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100" b="0" dirty="0" err="1" smtClean="0">
                <a:solidFill>
                  <a:srgbClr val="D7EEE4"/>
                </a:solidFill>
                <a:latin typeface="Aptos"/>
              </a:rPr>
              <a:t>qualidade</a:t>
            </a:r>
            <a:r>
              <a:rPr sz="1100" b="0" dirty="0" smtClean="0">
                <a:solidFill>
                  <a:srgbClr val="D7EEE4"/>
                </a:solidFill>
                <a:latin typeface="Aptos"/>
              </a:rPr>
              <a:t> </a:t>
            </a:r>
            <a:r>
              <a:rPr sz="1100" b="0" dirty="0">
                <a:solidFill>
                  <a:srgbClr val="D7EEE4"/>
                </a:solidFill>
                <a:latin typeface="Aptos"/>
              </a:rPr>
              <a:t>e </a:t>
            </a:r>
            <a:r>
              <a:rPr sz="1100" b="0" dirty="0" err="1">
                <a:solidFill>
                  <a:srgbClr val="D7EEE4"/>
                </a:solidFill>
                <a:latin typeface="Aptos"/>
              </a:rPr>
              <a:t>eficiência</a:t>
            </a:r>
            <a:r>
              <a:rPr sz="1100" b="0" dirty="0">
                <a:solidFill>
                  <a:srgbClr val="D7EEE4"/>
                </a:solidFill>
                <a:latin typeface="Aptos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059935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977639"/>
            <a:ext cx="683971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333333"/>
                </a:solidFill>
                <a:latin typeface="Aptos"/>
              </a:rPr>
              <a:t>Turmas heterogêneas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581144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498848"/>
            <a:ext cx="683971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333333"/>
                </a:solidFill>
                <a:latin typeface="Aptos"/>
              </a:rPr>
              <a:t>Necessidades como TDAH, dislexia, TEA e deficiência intelectual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102352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5020056"/>
            <a:ext cx="683971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333333"/>
                </a:solidFill>
                <a:latin typeface="Aptos"/>
              </a:rPr>
              <a:t>Necessidade de adaptar sem perder o objetivo pedagógico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9"/>
    </mc:Choice>
    <mc:Fallback xmlns="">
      <p:transition spd="slow" advTm="1619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02 • PARA QUEM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Três atores. Uma mesma jornada de inclusão.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O Potencializa cria valor para quem prepara, para quem aprende e para quem gere.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88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" y="2267712"/>
            <a:ext cx="530352" cy="530352"/>
          </a:xfrm>
          <a:prstGeom prst="ellipse">
            <a:avLst/>
          </a:prstGeom>
          <a:solidFill>
            <a:srgbClr val="5D9386"/>
          </a:solidFill>
          <a:ln>
            <a:solidFill>
              <a:srgbClr val="5D9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276856"/>
            <a:ext cx="53035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221992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A2B"/>
                </a:solidFill>
                <a:latin typeface="Aptos"/>
              </a:rPr>
              <a:t>PROFESSOR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1737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D9386"/>
                </a:solidFill>
                <a:latin typeface="Aptos"/>
              </a:rPr>
              <a:t>Usuário direto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228600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  <a:latin typeface="Aptos"/>
              </a:rPr>
              <a:t>Menos burocracia
+ mais tempo para ensinar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D938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011680"/>
            <a:ext cx="2788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61688" y="2267712"/>
            <a:ext cx="530352" cy="53035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2276856"/>
            <a:ext cx="53035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221992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A2B"/>
                </a:solidFill>
                <a:latin typeface="Aptos"/>
              </a:rPr>
              <a:t>ALUNO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578608"/>
            <a:ext cx="1737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Aptos"/>
              </a:rPr>
              <a:t>Beneficiário 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54680"/>
            <a:ext cx="228600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  <a:latin typeface="Aptos"/>
              </a:rPr>
              <a:t>Avaliação mais clara,
acessível e adequada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834640"/>
            <a:ext cx="4572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D938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2788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99248" y="2267712"/>
            <a:ext cx="530352" cy="530352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2276856"/>
            <a:ext cx="53035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221992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A2B"/>
                </a:solidFill>
                <a:latin typeface="Aptos"/>
              </a:rPr>
              <a:t>ESCOLA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578608"/>
            <a:ext cx="1737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Comprador / influenciador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154680"/>
            <a:ext cx="228600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3333"/>
                </a:solidFill>
                <a:latin typeface="Aptos"/>
              </a:rPr>
              <a:t>Eficiência, padronização
e visão de impacto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92040"/>
            <a:ext cx="10442448" cy="685800"/>
          </a:xfrm>
          <a:prstGeom prst="roundRect">
            <a:avLst/>
          </a:prstGeom>
          <a:solidFill>
            <a:srgbClr val="D7EEE4"/>
          </a:solidFill>
          <a:ln w="12700"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010912"/>
            <a:ext cx="97840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82A2B"/>
                </a:solidFill>
                <a:latin typeface="Aptos"/>
              </a:rPr>
              <a:t>Público inicial: professores da educação básica e escolas que precisam adaptar avaliações para diferentes perfis de aprendizagem.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"/>
    </mc:Choice>
    <mc:Fallback xmlns="">
      <p:transition spd="slow" advTm="28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03 • 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Potencializa: da prova original à adaptação pedagógica.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Uma jornada simples, com IA no ponto em que o professor mais precisa de apoio.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2677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7C0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97480"/>
            <a:ext cx="2011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A2B"/>
                </a:solidFill>
                <a:latin typeface="Aptos"/>
              </a:rPr>
              <a:t>ENVIAR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54680"/>
            <a:ext cx="20116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678"/>
                </a:solidFill>
                <a:latin typeface="Aptos"/>
              </a:rPr>
              <a:t>Foto ou PDF da prova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2788920"/>
            <a:ext cx="3200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5D938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05740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2677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7C0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2011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A2B"/>
                </a:solidFill>
                <a:latin typeface="Aptos"/>
              </a:rPr>
              <a:t>CONTEXTUALIZAR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2099934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667678"/>
                </a:solidFill>
                <a:latin typeface="Aptos"/>
              </a:rPr>
              <a:t>Selecionar</a:t>
            </a:r>
            <a:r>
              <a:rPr sz="1100" b="0" dirty="0">
                <a:solidFill>
                  <a:srgbClr val="667678"/>
                </a:solidFill>
                <a:latin typeface="Aptos"/>
              </a:rPr>
              <a:t> o </a:t>
            </a:r>
            <a:r>
              <a:rPr sz="1100" b="0" dirty="0" err="1">
                <a:solidFill>
                  <a:srgbClr val="667678"/>
                </a:solidFill>
                <a:latin typeface="Aptos"/>
              </a:rPr>
              <a:t>aluno</a:t>
            </a:r>
            <a:r>
              <a:rPr sz="1100" b="0" dirty="0">
                <a:solidFill>
                  <a:srgbClr val="667678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667678"/>
                </a:solidFill>
                <a:latin typeface="Aptos"/>
              </a:rPr>
              <a:t>descrever</a:t>
            </a:r>
            <a:r>
              <a:rPr sz="1100" b="0" dirty="0">
                <a:solidFill>
                  <a:srgbClr val="667678"/>
                </a:solidFill>
                <a:latin typeface="Aptos"/>
              </a:rPr>
              <a:t> a </a:t>
            </a:r>
            <a:endParaRPr lang="pt-BR" sz="11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100" b="0" dirty="0" err="1" smtClean="0">
                <a:solidFill>
                  <a:srgbClr val="667678"/>
                </a:solidFill>
                <a:latin typeface="Aptos"/>
              </a:rPr>
              <a:t>necessidade</a:t>
            </a:r>
            <a:endParaRPr sz="1100" b="0" dirty="0">
              <a:solidFill>
                <a:srgbClr val="66767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25896" y="2788920"/>
            <a:ext cx="3200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5D938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05740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2677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7C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97480"/>
            <a:ext cx="2011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A2B"/>
                </a:solidFill>
                <a:latin typeface="Aptos"/>
              </a:rPr>
              <a:t>ADAPTAR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54680"/>
            <a:ext cx="20116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678"/>
                </a:solidFill>
                <a:latin typeface="Aptos"/>
              </a:rPr>
              <a:t>IA gera versões e justificativas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2788920"/>
            <a:ext cx="3200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5D938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057400"/>
            <a:ext cx="24871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6024" y="22677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7C0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697480"/>
            <a:ext cx="2011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A2B"/>
                </a:solidFill>
                <a:latin typeface="Aptos"/>
              </a:rPr>
              <a:t>APLICAR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154680"/>
            <a:ext cx="20116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7678"/>
                </a:solidFill>
                <a:latin typeface="Aptos"/>
              </a:rPr>
              <a:t>Professor revisa e usa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34840"/>
            <a:ext cx="9966960" cy="82296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4608576"/>
            <a:ext cx="950976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Resultado: versões adaptadas + justificativa pedagógica para apoiar a decisão do professor.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04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2">
            <p14:nvContentPartPr>
              <p14:cNvPr id="28" name="Tinta 27"/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626179" y="2848139"/>
              <a:ext cx="2" cy="2"/>
            </p14:xfrm>
          </p:contentPart>
        </mc:Choice>
        <mc:Fallback xmlns="">
          <p:pic>
            <p:nvPicPr>
              <p:cNvPr id="28" name="Tinta 27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6179" y="2848139"/>
                <a:ext cx="2" cy="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7"/>
    </mc:Choice>
    <mc:Fallback xmlns="">
      <p:transition spd="slow" advTm="5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04 •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A experiência já existe — e cabe em poucos cliques.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O protótipo transforma o fluxo em uma jornada guiada, sem exigir conhecimento técnico do professor.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05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1341398" y="1686687"/>
            <a:ext cx="9240980" cy="4646807"/>
            <a:chOff x="1306947" y="1827145"/>
            <a:chExt cx="9166168" cy="4456438"/>
          </a:xfrm>
        </p:grpSpPr>
        <p:grpSp>
          <p:nvGrpSpPr>
            <p:cNvPr id="21" name="Grupo 20"/>
            <p:cNvGrpSpPr/>
            <p:nvPr/>
          </p:nvGrpSpPr>
          <p:grpSpPr>
            <a:xfrm>
              <a:off x="4278747" y="1827146"/>
              <a:ext cx="2982884" cy="2133173"/>
              <a:chOff x="3611880" y="1783080"/>
              <a:chExt cx="2423160" cy="416052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3611880" y="1783080"/>
                <a:ext cx="242316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749040" y="5596128"/>
                <a:ext cx="214884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dirty="0">
                    <a:solidFill>
                      <a:srgbClr val="5D9386"/>
                    </a:solidFill>
                    <a:latin typeface="Aptos"/>
                  </a:rPr>
                  <a:t>Upload da </a:t>
                </a:r>
                <a:r>
                  <a:rPr sz="900" b="1" dirty="0" err="1">
                    <a:solidFill>
                      <a:srgbClr val="5D9386"/>
                    </a:solidFill>
                    <a:latin typeface="Aptos"/>
                  </a:rPr>
                  <a:t>prova</a:t>
                </a:r>
                <a:endParaRPr sz="900" b="1" dirty="0">
                  <a:solidFill>
                    <a:srgbClr val="5D9386"/>
                  </a:solidFill>
                  <a:latin typeface="Aptos"/>
                </a:endParaRPr>
              </a:p>
            </p:txBody>
          </p:sp>
        </p:grpSp>
        <p:grpSp>
          <p:nvGrpSpPr>
            <p:cNvPr id="20" name="Grupo 19"/>
            <p:cNvGrpSpPr/>
            <p:nvPr/>
          </p:nvGrpSpPr>
          <p:grpSpPr>
            <a:xfrm>
              <a:off x="1306947" y="1827147"/>
              <a:ext cx="2743200" cy="2133600"/>
              <a:chOff x="640080" y="1783080"/>
              <a:chExt cx="2743200" cy="416052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640080" y="1783080"/>
                <a:ext cx="274320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77240" y="5596128"/>
                <a:ext cx="2468880" cy="2286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dirty="0">
                    <a:solidFill>
                      <a:srgbClr val="5D9386"/>
                    </a:solidFill>
                    <a:latin typeface="Aptos"/>
                  </a:rPr>
                  <a:t>Dashboard</a:t>
                </a:r>
              </a:p>
            </p:txBody>
          </p:sp>
        </p:grpSp>
        <p:pic>
          <p:nvPicPr>
            <p:cNvPr id="6" name="Picture 5" descr="Captura de tela 2026-09-20 010409.png"/>
            <p:cNvPicPr>
              <a:picLocks noChangeAspect="1"/>
            </p:cNvPicPr>
            <p:nvPr/>
          </p:nvPicPr>
          <p:blipFill rotWithShape="1">
            <a:blip r:embed="rId2"/>
            <a:srcRect r="13183" b="17591"/>
            <a:stretch/>
          </p:blipFill>
          <p:spPr>
            <a:xfrm>
              <a:off x="1407531" y="2290251"/>
              <a:ext cx="2505456" cy="1088579"/>
            </a:xfrm>
            <a:prstGeom prst="rect">
              <a:avLst/>
            </a:prstGeom>
          </p:spPr>
        </p:pic>
        <p:pic>
          <p:nvPicPr>
            <p:cNvPr id="9" name="Picture 8" descr="Captura de tela 2026-09-20 01042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9337" y="2261862"/>
              <a:ext cx="2780226" cy="1258856"/>
            </a:xfrm>
            <a:prstGeom prst="rect">
              <a:avLst/>
            </a:prstGeom>
          </p:spPr>
        </p:pic>
        <p:grpSp>
          <p:nvGrpSpPr>
            <p:cNvPr id="22" name="Grupo 21"/>
            <p:cNvGrpSpPr/>
            <p:nvPr/>
          </p:nvGrpSpPr>
          <p:grpSpPr>
            <a:xfrm>
              <a:off x="7490231" y="1827145"/>
              <a:ext cx="2982884" cy="2133173"/>
              <a:chOff x="3611880" y="1783080"/>
              <a:chExt cx="2423160" cy="4160520"/>
            </a:xfrm>
          </p:grpSpPr>
          <p:sp>
            <p:nvSpPr>
              <p:cNvPr id="23" name="Rounded Rectangle 7"/>
              <p:cNvSpPr/>
              <p:nvPr/>
            </p:nvSpPr>
            <p:spPr>
              <a:xfrm>
                <a:off x="3611880" y="1783080"/>
                <a:ext cx="242316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9"/>
              <p:cNvSpPr txBox="1"/>
              <p:nvPr/>
            </p:nvSpPr>
            <p:spPr>
              <a:xfrm>
                <a:off x="4438008" y="5596128"/>
                <a:ext cx="770908" cy="27012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900" b="1" dirty="0" smtClean="0">
                    <a:solidFill>
                      <a:srgbClr val="5D9386"/>
                    </a:solidFill>
                    <a:latin typeface="Aptos"/>
                  </a:rPr>
                  <a:t>Seleção do aluno</a:t>
                </a:r>
                <a:endParaRPr sz="900" b="1" dirty="0">
                  <a:solidFill>
                    <a:srgbClr val="5D9386"/>
                  </a:solidFill>
                  <a:latin typeface="Aptos"/>
                </a:endParaRPr>
              </a:p>
            </p:txBody>
          </p:sp>
        </p:grpSp>
        <p:pic>
          <p:nvPicPr>
            <p:cNvPr id="25" name="Picture 14" descr="Captura de tela 2026-09-20 010523.png"/>
            <p:cNvPicPr>
              <a:picLocks noChangeAspect="1"/>
            </p:cNvPicPr>
            <p:nvPr/>
          </p:nvPicPr>
          <p:blipFill rotWithShape="1">
            <a:blip r:embed="rId4"/>
            <a:srcRect b="58988"/>
            <a:stretch/>
          </p:blipFill>
          <p:spPr>
            <a:xfrm>
              <a:off x="7659073" y="2229332"/>
              <a:ext cx="2736642" cy="1149498"/>
            </a:xfrm>
            <a:prstGeom prst="rect">
              <a:avLst/>
            </a:prstGeom>
          </p:spPr>
        </p:pic>
        <p:grpSp>
          <p:nvGrpSpPr>
            <p:cNvPr id="26" name="Grupo 25"/>
            <p:cNvGrpSpPr/>
            <p:nvPr/>
          </p:nvGrpSpPr>
          <p:grpSpPr>
            <a:xfrm>
              <a:off x="1306947" y="4150410"/>
              <a:ext cx="2743200" cy="2133173"/>
              <a:chOff x="3611880" y="1783080"/>
              <a:chExt cx="2423160" cy="4160520"/>
            </a:xfrm>
          </p:grpSpPr>
          <p:sp>
            <p:nvSpPr>
              <p:cNvPr id="27" name="Rounded Rectangle 7"/>
              <p:cNvSpPr/>
              <p:nvPr/>
            </p:nvSpPr>
            <p:spPr>
              <a:xfrm>
                <a:off x="3611880" y="1783080"/>
                <a:ext cx="242316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9"/>
              <p:cNvSpPr txBox="1"/>
              <p:nvPr/>
            </p:nvSpPr>
            <p:spPr>
              <a:xfrm>
                <a:off x="4620317" y="5596128"/>
                <a:ext cx="406289" cy="27012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900" b="1" dirty="0" smtClean="0">
                    <a:solidFill>
                      <a:srgbClr val="5D9386"/>
                    </a:solidFill>
                    <a:latin typeface="Aptos"/>
                  </a:rPr>
                  <a:t>Contexto</a:t>
                </a:r>
                <a:endParaRPr sz="900" b="1" dirty="0">
                  <a:solidFill>
                    <a:srgbClr val="5D9386"/>
                  </a:solidFill>
                  <a:latin typeface="Aptos"/>
                </a:endParaRPr>
              </a:p>
            </p:txBody>
          </p:sp>
        </p:grpSp>
        <p:pic>
          <p:nvPicPr>
            <p:cNvPr id="29" name="Picture 14" descr="Captura de tela 2026-09-20 010523.png"/>
            <p:cNvPicPr>
              <a:picLocks noChangeAspect="1"/>
            </p:cNvPicPr>
            <p:nvPr/>
          </p:nvPicPr>
          <p:blipFill rotWithShape="1">
            <a:blip r:embed="rId4"/>
            <a:srcRect l="-72" t="39543" r="3713" b="1822"/>
            <a:stretch/>
          </p:blipFill>
          <p:spPr>
            <a:xfrm>
              <a:off x="1456844" y="4369514"/>
              <a:ext cx="2425097" cy="1643423"/>
            </a:xfrm>
            <a:prstGeom prst="rect">
              <a:avLst/>
            </a:prstGeom>
          </p:spPr>
        </p:pic>
        <p:grpSp>
          <p:nvGrpSpPr>
            <p:cNvPr id="30" name="Grupo 29"/>
            <p:cNvGrpSpPr/>
            <p:nvPr/>
          </p:nvGrpSpPr>
          <p:grpSpPr>
            <a:xfrm>
              <a:off x="4281331" y="4084999"/>
              <a:ext cx="2980300" cy="2133173"/>
              <a:chOff x="3611880" y="1783080"/>
              <a:chExt cx="2423160" cy="4160520"/>
            </a:xfrm>
          </p:grpSpPr>
          <p:sp>
            <p:nvSpPr>
              <p:cNvPr id="31" name="Rounded Rectangle 7"/>
              <p:cNvSpPr/>
              <p:nvPr/>
            </p:nvSpPr>
            <p:spPr>
              <a:xfrm>
                <a:off x="3611880" y="1783080"/>
                <a:ext cx="242316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9"/>
              <p:cNvSpPr txBox="1"/>
              <p:nvPr/>
            </p:nvSpPr>
            <p:spPr>
              <a:xfrm>
                <a:off x="4583858" y="5596128"/>
                <a:ext cx="479212" cy="27012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900" b="1" dirty="0" smtClean="0">
                    <a:solidFill>
                      <a:srgbClr val="5D9386"/>
                    </a:solidFill>
                    <a:latin typeface="Aptos"/>
                  </a:rPr>
                  <a:t>Adaptação</a:t>
                </a:r>
                <a:endParaRPr sz="900" b="1" dirty="0">
                  <a:solidFill>
                    <a:srgbClr val="5D9386"/>
                  </a:solidFill>
                  <a:latin typeface="Aptos"/>
                </a:endParaRPr>
              </a:p>
            </p:txBody>
          </p:sp>
        </p:grpSp>
        <p:pic>
          <p:nvPicPr>
            <p:cNvPr id="34" name="Imagem 33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849"/>
            <a:stretch/>
          </p:blipFill>
          <p:spPr>
            <a:xfrm>
              <a:off x="4390416" y="4329858"/>
              <a:ext cx="2762320" cy="1492019"/>
            </a:xfrm>
            <a:prstGeom prst="rect">
              <a:avLst/>
            </a:prstGeom>
          </p:spPr>
        </p:pic>
        <p:grpSp>
          <p:nvGrpSpPr>
            <p:cNvPr id="35" name="Grupo 34"/>
            <p:cNvGrpSpPr/>
            <p:nvPr/>
          </p:nvGrpSpPr>
          <p:grpSpPr>
            <a:xfrm>
              <a:off x="7490231" y="4073062"/>
              <a:ext cx="2982884" cy="2133173"/>
              <a:chOff x="3611880" y="1783080"/>
              <a:chExt cx="2423160" cy="4160520"/>
            </a:xfrm>
          </p:grpSpPr>
          <p:sp>
            <p:nvSpPr>
              <p:cNvPr id="36" name="Rounded Rectangle 7"/>
              <p:cNvSpPr/>
              <p:nvPr/>
            </p:nvSpPr>
            <p:spPr>
              <a:xfrm>
                <a:off x="3611880" y="1783080"/>
                <a:ext cx="2423160" cy="416052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2E3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9"/>
              <p:cNvSpPr txBox="1"/>
              <p:nvPr/>
            </p:nvSpPr>
            <p:spPr>
              <a:xfrm>
                <a:off x="4583853" y="5596128"/>
                <a:ext cx="479212" cy="27012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900" b="1" dirty="0" smtClean="0">
                    <a:solidFill>
                      <a:srgbClr val="5D9386"/>
                    </a:solidFill>
                    <a:latin typeface="Aptos"/>
                  </a:rPr>
                  <a:t>Adaptação</a:t>
                </a:r>
                <a:endParaRPr sz="900" b="1" dirty="0">
                  <a:solidFill>
                    <a:srgbClr val="5D9386"/>
                  </a:solidFill>
                  <a:latin typeface="Aptos"/>
                </a:endParaRPr>
              </a:p>
            </p:txBody>
          </p:sp>
        </p:grpSp>
        <p:pic>
          <p:nvPicPr>
            <p:cNvPr id="38" name="Imagem 3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" t="50686" r="-1338" b="-2837"/>
            <a:stretch/>
          </p:blipFill>
          <p:spPr>
            <a:xfrm>
              <a:off x="7622635" y="4355935"/>
              <a:ext cx="2762320" cy="14920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05 •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Mais do que gerar texto: apoiar uma decisão pedagógica.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O diferencial está na combinação entre velocidade, personalização e justificativa.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44805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67678"/>
                </a:solidFill>
                <a:latin typeface="Apto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01168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57C00"/>
                </a:solidFill>
                <a:latin typeface="Aptos"/>
              </a:rPr>
              <a:t>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A2B"/>
                </a:solidFill>
                <a:latin typeface="Aptos"/>
              </a:rPr>
              <a:t>adaptação manual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785615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37033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Aptos"/>
              </a:rPr>
              <a:t>Leitura da necessidade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4242816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41605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Aptos"/>
              </a:rPr>
              <a:t>Reescrita das questões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700016"/>
            <a:ext cx="91440" cy="9144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" y="46177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Aptos"/>
              </a:rPr>
              <a:t>Revisão e justificativa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828800"/>
            <a:ext cx="4480560" cy="347472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148840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7EEE4"/>
                </a:solidFill>
                <a:latin typeface="Aptos"/>
              </a:rPr>
              <a:t>COM POTENCIALIZA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560320"/>
            <a:ext cx="201168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D7EEE4"/>
                </a:solidFill>
                <a:latin typeface="Aptos"/>
              </a:rPr>
              <a:t>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218688"/>
            <a:ext cx="29260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fluxo assistido por IA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3785615"/>
            <a:ext cx="91440" cy="91440"/>
          </a:xfrm>
          <a:prstGeom prst="ellipse">
            <a:avLst/>
          </a:prstGeom>
          <a:solidFill>
            <a:srgbClr val="D7EEE4"/>
          </a:solidFill>
          <a:ln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07607" y="37033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Upload + contexto do aluno</a:t>
            </a:r>
          </a:p>
        </p:txBody>
      </p:sp>
      <p:sp>
        <p:nvSpPr>
          <p:cNvPr id="21" name="Oval 20"/>
          <p:cNvSpPr/>
          <p:nvPr/>
        </p:nvSpPr>
        <p:spPr>
          <a:xfrm>
            <a:off x="5806440" y="4242816"/>
            <a:ext cx="91440" cy="91440"/>
          </a:xfrm>
          <a:prstGeom prst="ellipse">
            <a:avLst/>
          </a:prstGeom>
          <a:solidFill>
            <a:srgbClr val="D7EEE4"/>
          </a:solidFill>
          <a:ln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07607" y="41605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Versões adaptadas</a:t>
            </a:r>
          </a:p>
        </p:txBody>
      </p:sp>
      <p:sp>
        <p:nvSpPr>
          <p:cNvPr id="23" name="Oval 22"/>
          <p:cNvSpPr/>
          <p:nvPr/>
        </p:nvSpPr>
        <p:spPr>
          <a:xfrm>
            <a:off x="5806440" y="4700016"/>
            <a:ext cx="91440" cy="91440"/>
          </a:xfrm>
          <a:prstGeom prst="ellipse">
            <a:avLst/>
          </a:prstGeom>
          <a:solidFill>
            <a:srgbClr val="D7EEE4"/>
          </a:solidFill>
          <a:ln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07607" y="4617720"/>
            <a:ext cx="3273551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Justificativas pedagógicas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93268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82A2B"/>
                </a:solidFill>
                <a:latin typeface="Aptos"/>
              </a:rPr>
              <a:t>Meta de experiência: reduzir a carga operacional sem substituir o professor.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06 • TECNOLOGIA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Tecnologia simples por fora. Inteligência no fluxo por dentro.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O MVP foi construído para validar a experiência antes de escalar a arquitetura.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4892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82A2B"/>
                </a:solidFill>
                <a:latin typeface="Aptos"/>
              </a:rP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5603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5D9386"/>
                </a:solidFill>
                <a:latin typeface="Aptos"/>
              </a:rPr>
              <a:t>Lovable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3840480" cy="1234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3333"/>
                </a:solidFill>
                <a:latin typeface="Aptos"/>
              </a:rPr>
              <a:t>• Navegação guiada
• Upload de foto/PDF
• Seleção de aluno
• Feedback visual do processo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4892040" cy="352044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7EEE4"/>
                </a:solidFill>
                <a:latin typeface="Aptos"/>
              </a:rPr>
              <a:t>Inteligência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27432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D7EEE4"/>
                </a:solidFill>
                <a:latin typeface="Aptos"/>
              </a:rPr>
              <a:t>IA generativa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3840480" cy="1234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Aptos"/>
              </a:rPr>
              <a:t>• Interpreta a prova
• Considera o contexto do aluno
• Gera adaptações
• Explica as escolhas pedagógicas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5623560"/>
            <a:ext cx="8732520" cy="502920"/>
          </a:xfrm>
          <a:prstGeom prst="roundRect">
            <a:avLst/>
          </a:prstGeom>
          <a:solidFill>
            <a:srgbClr val="FFE6D2"/>
          </a:solidFill>
          <a:ln w="12700">
            <a:solidFill>
              <a:srgbClr val="FF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1164" y="5783580"/>
            <a:ext cx="83667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dirty="0" err="1">
                <a:solidFill>
                  <a:srgbClr val="182A2B"/>
                </a:solidFill>
                <a:latin typeface="Aptos"/>
              </a:rPr>
              <a:t>Próxima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etapa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: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validar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qualidade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,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segurança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e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consistência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das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adaptações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em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182A2B"/>
                </a:solidFill>
                <a:latin typeface="Aptos"/>
              </a:rPr>
              <a:t>uso</a:t>
            </a:r>
            <a:r>
              <a:rPr sz="1100" b="1" dirty="0">
                <a:solidFill>
                  <a:srgbClr val="182A2B"/>
                </a:solidFill>
                <a:latin typeface="Aptos"/>
              </a:rPr>
              <a:t>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07 • 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Começamos com a escola — e crescemos com a jornada pedagógica.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Modelo recorrente, com espaço para expansão de funcionalidades e integrações.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874519"/>
            <a:ext cx="4023360" cy="123444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69080" y="2084831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7EEE4"/>
                </a:solidFill>
                <a:latin typeface="Aptos"/>
              </a:rPr>
              <a:t>ASSINATURA MENSAL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487168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por escola / rede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D9386"/>
                </a:solidFill>
                <a:latin typeface="Aptos"/>
              </a:rPr>
              <a:t>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33087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Teste / versão gratuita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65760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3822191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7C00"/>
                </a:solidFill>
                <a:latin typeface="Aptos"/>
              </a:rPr>
              <a:t>Expansão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133087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Relatórios e recursos premium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8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48072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Aptos"/>
              </a:rPr>
              <a:t>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58968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Redes e secretarias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98348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5148072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D9386"/>
                </a:solidFill>
                <a:latin typeface="Aptos"/>
              </a:rPr>
              <a:t>Integração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458968"/>
            <a:ext cx="2286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Sistemas escolares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575233"/>
            <a:ext cx="3657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dirty="0">
                <a:solidFill>
                  <a:srgbClr val="5D9386"/>
                </a:solidFill>
                <a:latin typeface="Aptos"/>
              </a:rPr>
              <a:t>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389" y="4611070"/>
            <a:ext cx="3657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dirty="0">
                <a:solidFill>
                  <a:srgbClr val="5D9386"/>
                </a:solidFill>
                <a:latin typeface="Aptos"/>
              </a:rPr>
              <a:t>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08 •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O MVP já foi colocado na frente do usuário.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A validação inicial buscou entender percepção de utilidade, economia de tempo e clareza da proposta.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22860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D9386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207909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667678"/>
                </a:solidFill>
                <a:latin typeface="Aptos"/>
              </a:rPr>
              <a:t>feedback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inicial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positivo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sobre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err="1" smtClean="0">
                <a:solidFill>
                  <a:srgbClr val="667678"/>
                </a:solidFill>
                <a:latin typeface="Aptos"/>
              </a:rPr>
              <a:t>economia</a:t>
            </a:r>
            <a:r>
              <a:rPr sz="1200" b="0" dirty="0" smtClean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de tempo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8288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2029968"/>
            <a:ext cx="22860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70048"/>
            <a:ext cx="211596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667678"/>
                </a:solidFill>
                <a:latin typeface="Aptos"/>
              </a:rPr>
              <a:t>clareza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das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justificativas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como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err="1" smtClean="0">
                <a:solidFill>
                  <a:srgbClr val="667678"/>
                </a:solidFill>
                <a:latin typeface="Aptos"/>
              </a:rPr>
              <a:t>elemento</a:t>
            </a:r>
            <a:r>
              <a:rPr sz="1200" b="0" dirty="0" smtClean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de valor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8288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2029968"/>
            <a:ext cx="22860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7C0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670048"/>
            <a:ext cx="213520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667678"/>
                </a:solidFill>
                <a:latin typeface="Aptos"/>
              </a:rPr>
              <a:t>próximo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passo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: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testar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com </a:t>
            </a:r>
            <a:r>
              <a:rPr sz="1200" b="0" dirty="0" err="1">
                <a:solidFill>
                  <a:srgbClr val="667678"/>
                </a:solidFill>
                <a:latin typeface="Aptos"/>
              </a:rPr>
              <a:t>uso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 </a:t>
            </a:r>
            <a:endParaRPr lang="pt-BR" sz="1200" b="0" dirty="0" smtClean="0">
              <a:solidFill>
                <a:srgbClr val="667678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200" b="0" dirty="0" err="1" smtClean="0">
                <a:solidFill>
                  <a:srgbClr val="667678"/>
                </a:solidFill>
                <a:latin typeface="Aptos"/>
              </a:rPr>
              <a:t>mais</a:t>
            </a:r>
            <a:r>
              <a:rPr sz="1200" b="0" dirty="0" smtClean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 err="1" smtClean="0">
                <a:solidFill>
                  <a:srgbClr val="667678"/>
                </a:solidFill>
                <a:latin typeface="Aptos"/>
              </a:rPr>
              <a:t>próximo</a:t>
            </a:r>
            <a:r>
              <a:rPr sz="1200" b="0" dirty="0" smtClean="0">
                <a:solidFill>
                  <a:srgbClr val="667678"/>
                </a:solidFill>
                <a:latin typeface="Aptos"/>
              </a:rPr>
              <a:t> </a:t>
            </a:r>
            <a:r>
              <a:rPr sz="1200" b="0" dirty="0">
                <a:solidFill>
                  <a:srgbClr val="667678"/>
                </a:solidFill>
                <a:latin typeface="Aptos"/>
              </a:rPr>
              <a:t>do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10012680" cy="132588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096512"/>
            <a:ext cx="3108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7EEE4"/>
                </a:solidFill>
                <a:latin typeface="Aptos"/>
              </a:rPr>
              <a:t>O que estamos validando agora?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92692"/>
            <a:ext cx="953305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Aptos"/>
              </a:rPr>
              <a:t>Se o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Potencializa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consegue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reduzir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esforço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sem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comprometer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a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qualidade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pedagógica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 smtClean="0">
                <a:solidFill>
                  <a:srgbClr val="FFFFFF"/>
                </a:solidFill>
                <a:latin typeface="Aptos"/>
              </a:rPr>
              <a:t>percebida</a:t>
            </a:r>
            <a:r>
              <a:rPr sz="1600" b="1" dirty="0" smtClean="0">
                <a:solidFill>
                  <a:srgbClr val="FFFFFF"/>
                </a:solidFill>
                <a:latin typeface="Aptos"/>
              </a:rPr>
              <a:t> </a:t>
            </a:r>
            <a:endParaRPr lang="pt-BR" sz="1600" b="1" dirty="0" smtClean="0">
              <a:solidFill>
                <a:srgbClr val="FFFFFF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r>
              <a:rPr sz="1600" b="1" dirty="0" err="1" smtClean="0">
                <a:solidFill>
                  <a:srgbClr val="FFFFFF"/>
                </a:solidFill>
                <a:latin typeface="Aptos"/>
              </a:rPr>
              <a:t>pelo</a:t>
            </a:r>
            <a:r>
              <a:rPr sz="1600" b="1" dirty="0" smtClean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professor.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0126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67678"/>
                </a:solidFill>
                <a:latin typeface="Aptos"/>
              </a:rPr>
              <a:t>Base: simulação com professores + protótipo navegável.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F57C00"/>
                </a:solidFill>
                <a:latin typeface="Aptos"/>
              </a:rPr>
              <a:t>09 •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Não é só criar uma prova. É adaptar a prova que já existe.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O posicionamento do Potencializa está na adaptação personalizada e na justificativa pedagógica.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057400" cy="530352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1945086"/>
            <a:ext cx="19659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dirty="0" err="1">
                <a:solidFill>
                  <a:srgbClr val="FFFFFF"/>
                </a:solidFill>
                <a:latin typeface="Aptos"/>
              </a:rPr>
              <a:t>Solução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1783080"/>
            <a:ext cx="2011680" cy="530352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946795"/>
            <a:ext cx="1920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dirty="0" err="1">
                <a:solidFill>
                  <a:srgbClr val="FFFFFF"/>
                </a:solidFill>
                <a:latin typeface="Aptos"/>
              </a:rPr>
              <a:t>Foco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92040" y="1783080"/>
            <a:ext cx="1965960" cy="530352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1" y="1975104"/>
            <a:ext cx="18745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FFFFFF"/>
                </a:solidFill>
                <a:latin typeface="Aptos"/>
              </a:rPr>
              <a:t>Ponto forte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783080"/>
            <a:ext cx="1965960" cy="530352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18745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Limitação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783080"/>
            <a:ext cx="2423160" cy="53035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1956816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dirty="0" err="1">
                <a:solidFill>
                  <a:srgbClr val="FFFFFF"/>
                </a:solidFill>
                <a:latin typeface="Aptos"/>
              </a:rPr>
              <a:t>Potencializa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2359152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459736"/>
            <a:ext cx="1911095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82A2B"/>
                </a:solidFill>
                <a:latin typeface="Aptos"/>
              </a:rPr>
              <a:t>GeraProva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359152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16352" y="2459736"/>
            <a:ext cx="18653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Criar provas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359152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5192" y="2459736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Banco / BNCC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359152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68312" y="2459736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Não prioriza adaptação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359152"/>
            <a:ext cx="2423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2459736"/>
            <a:ext cx="22768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5D9386"/>
                </a:solidFill>
                <a:latin typeface="Aptos"/>
              </a:rPr>
              <a:t>Adapta provas reais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072384"/>
            <a:ext cx="205740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172968"/>
            <a:ext cx="1911095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82A2B"/>
                </a:solidFill>
                <a:latin typeface="Aptos"/>
              </a:rPr>
              <a:t>Ensinei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3072384"/>
            <a:ext cx="201168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16352" y="3172968"/>
            <a:ext cx="18653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Provas + aulas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3072384"/>
            <a:ext cx="19659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65192" y="3172968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Variedade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3072384"/>
            <a:ext cx="19659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8312" y="3172968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Foco mais amplo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072384"/>
            <a:ext cx="24231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3172968"/>
            <a:ext cx="22768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5D9386"/>
                </a:solidFill>
                <a:latin typeface="Aptos"/>
              </a:rPr>
              <a:t>Especialização inclusiva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785616"/>
            <a:ext cx="2057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3886200"/>
            <a:ext cx="1911095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82A2B"/>
                </a:solidFill>
                <a:latin typeface="Aptos"/>
              </a:rPr>
              <a:t>Skooly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3785616"/>
            <a:ext cx="2011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16352" y="3886200"/>
            <a:ext cx="18653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Multifuncional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3785616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65192" y="3886200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Recursos para perfis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0" y="3785616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68312" y="3886200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Sem justificativa integrada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785616"/>
            <a:ext cx="2423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17152" y="3886200"/>
            <a:ext cx="22768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5D9386"/>
                </a:solidFill>
                <a:latin typeface="Aptos"/>
              </a:rPr>
              <a:t>Adaptação + justificativa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498848"/>
            <a:ext cx="205740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599432"/>
            <a:ext cx="1911095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82A2B"/>
                </a:solidFill>
                <a:latin typeface="Aptos"/>
              </a:rPr>
              <a:t>Prova na Mão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0" y="4498848"/>
            <a:ext cx="201168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16352" y="4599432"/>
            <a:ext cx="18653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Gerar provas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4498848"/>
            <a:ext cx="19659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65192" y="4599432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Agilidade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95160" y="4498848"/>
            <a:ext cx="19659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68312" y="4599432"/>
            <a:ext cx="18196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182A2B"/>
                </a:solidFill>
                <a:latin typeface="Aptos"/>
              </a:rPr>
              <a:t>Pouca personalização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0" y="4498848"/>
            <a:ext cx="2423160" cy="658368"/>
          </a:xfrm>
          <a:prstGeom prst="roundRect">
            <a:avLst/>
          </a:prstGeom>
          <a:solidFill>
            <a:srgbClr val="F4F9F6"/>
          </a:solidFill>
          <a:ln w="12700">
            <a:solidFill>
              <a:srgbClr val="D8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17152" y="4599432"/>
            <a:ext cx="227685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5D9386"/>
                </a:solidFill>
                <a:latin typeface="Aptos"/>
              </a:rPr>
              <a:t>Personalização por aluno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1560" y="5413248"/>
            <a:ext cx="10012680" cy="594360"/>
          </a:xfrm>
          <a:prstGeom prst="roundRect">
            <a:avLst/>
          </a:prstGeom>
          <a:solidFill>
            <a:srgbClr val="FFE6D2"/>
          </a:solidFill>
          <a:ln w="12700">
            <a:solidFill>
              <a:srgbClr val="FF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34440" y="5623560"/>
            <a:ext cx="9646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182A2B"/>
                </a:solidFill>
                <a:latin typeface="Aptos"/>
              </a:rPr>
              <a:t>“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Enquanto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outros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focam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em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gerar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provas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novas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, o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Potencializa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foca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em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adaptar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provas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já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existentes</a:t>
            </a:r>
            <a:r>
              <a:rPr sz="1200" b="1" dirty="0">
                <a:solidFill>
                  <a:srgbClr val="182A2B"/>
                </a:solidFill>
                <a:latin typeface="Aptos"/>
              </a:rPr>
              <a:t>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7C00"/>
                </a:solidFill>
                <a:latin typeface="Aptos"/>
              </a:rPr>
              <a:t>10 • FUTURO +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82A2B"/>
                </a:solidFill>
                <a:latin typeface="Aptos"/>
              </a:rPr>
              <a:t>Começamos com provas. Evoluímos para um copiloto pedagógico.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67678"/>
                </a:solidFill>
                <a:latin typeface="Aptos"/>
              </a:rPr>
              <a:t>A expansão acontece em etapas, com a equipe como motor da execução.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35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130552"/>
            <a:ext cx="438912" cy="438912"/>
          </a:xfrm>
          <a:prstGeom prst="ellipse">
            <a:avLst/>
          </a:prstGeom>
          <a:solidFill>
            <a:srgbClr val="5D9386"/>
          </a:solidFill>
          <a:ln>
            <a:solidFill>
              <a:srgbClr val="5D9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4096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 smtClean="0">
                <a:solidFill>
                  <a:srgbClr val="5D9386"/>
                </a:solidFill>
                <a:latin typeface="Aptos"/>
              </a:rPr>
              <a:t>CURTO</a:t>
            </a:r>
            <a:r>
              <a:rPr lang="pt-BR" sz="1000" b="1" dirty="0" smtClean="0">
                <a:solidFill>
                  <a:srgbClr val="5D9386"/>
                </a:solidFill>
                <a:latin typeface="Aptos"/>
              </a:rPr>
              <a:t> PRAZO</a:t>
            </a:r>
            <a:endParaRPr sz="1000" b="1" dirty="0">
              <a:solidFill>
                <a:srgbClr val="5D938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359152"/>
            <a:ext cx="19659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2A2B"/>
                </a:solidFill>
                <a:latin typeface="Aptos"/>
              </a:rPr>
              <a:t>Relatórios individuais
Diário de classe inteligente</a:t>
            </a:r>
          </a:p>
        </p:txBody>
      </p:sp>
      <p:sp>
        <p:nvSpPr>
          <p:cNvPr id="9" name="Oval 8"/>
          <p:cNvSpPr/>
          <p:nvPr/>
        </p:nvSpPr>
        <p:spPr>
          <a:xfrm>
            <a:off x="3886200" y="2130552"/>
            <a:ext cx="438912" cy="43891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2039112"/>
            <a:ext cx="9040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 smtClean="0">
                <a:solidFill>
                  <a:srgbClr val="2E7D32"/>
                </a:solidFill>
                <a:latin typeface="Aptos"/>
              </a:rPr>
              <a:t>MÉDIO</a:t>
            </a:r>
            <a:r>
              <a:rPr lang="pt-BR" sz="1000" b="1" dirty="0" smtClean="0">
                <a:solidFill>
                  <a:srgbClr val="2E7D32"/>
                </a:solidFill>
                <a:latin typeface="Aptos"/>
              </a:rPr>
              <a:t> PRAZO</a:t>
            </a:r>
            <a:endParaRPr sz="1000" b="1" dirty="0">
              <a:solidFill>
                <a:srgbClr val="2E7D3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53128" y="2359152"/>
            <a:ext cx="19659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2A2B"/>
                </a:solidFill>
                <a:latin typeface="Aptos"/>
              </a:rPr>
              <a:t>Planos alinhados à BNCC
Painel da coordenação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130552"/>
            <a:ext cx="438912" cy="438912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4927" y="2039112"/>
            <a:ext cx="953787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 smtClean="0">
                <a:solidFill>
                  <a:srgbClr val="F57C00"/>
                </a:solidFill>
                <a:latin typeface="Aptos"/>
              </a:rPr>
              <a:t>LONGO</a:t>
            </a:r>
            <a:r>
              <a:rPr lang="pt-BR" sz="1000" b="1" dirty="0" smtClean="0">
                <a:solidFill>
                  <a:srgbClr val="F57C00"/>
                </a:solidFill>
                <a:latin typeface="Aptos"/>
              </a:rPr>
              <a:t> PRAZO</a:t>
            </a:r>
            <a:endParaRPr sz="1000" b="1" dirty="0">
              <a:solidFill>
                <a:srgbClr val="F57C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4927" y="2359152"/>
            <a:ext cx="19659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2A2B"/>
                </a:solidFill>
                <a:latin typeface="Aptos"/>
              </a:rPr>
              <a:t>Integrações com sistemas
Expansão para redes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45276" y="3731814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68236" y="3923838"/>
            <a:ext cx="16916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5D9386"/>
                </a:solidFill>
                <a:latin typeface="Aptos"/>
              </a:rPr>
              <a:t>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6444" y="44724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2A2B"/>
                </a:solidFill>
                <a:latin typeface="Aptos"/>
              </a:rPr>
              <a:t>Gustavo de Souza Marques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6444" y="49296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Desenvolvimento técnico
e implementação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1396" y="3731814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4356" y="3923838"/>
            <a:ext cx="105157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5D9386"/>
                </a:solidFill>
                <a:latin typeface="Aptos"/>
              </a:rPr>
              <a:t>TECH &amp;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2564" y="44724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182A2B"/>
                </a:solidFill>
                <a:latin typeface="Aptos"/>
              </a:rPr>
              <a:t>Francine Souza </a:t>
            </a:r>
            <a:r>
              <a:rPr sz="1200" b="1" dirty="0" err="1">
                <a:solidFill>
                  <a:srgbClr val="182A2B"/>
                </a:solidFill>
                <a:latin typeface="Aptos"/>
              </a:rPr>
              <a:t>Milke</a:t>
            </a:r>
            <a:endParaRPr sz="1200" b="1" dirty="0">
              <a:solidFill>
                <a:srgbClr val="182A2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92564" y="49296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Viabilidade, estratégia
e modelo de negócio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7516" y="3731814"/>
            <a:ext cx="2834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0476" y="3923838"/>
            <a:ext cx="101309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5D9386"/>
                </a:solidFill>
                <a:latin typeface="Aptos"/>
              </a:rPr>
              <a:t>DATA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8684" y="44724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2A2B"/>
                </a:solidFill>
                <a:latin typeface="Aptos"/>
              </a:rPr>
              <a:t>Yara Maria Santos Morais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8684" y="4929678"/>
            <a:ext cx="24231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67678"/>
                </a:solidFill>
                <a:latin typeface="Aptos"/>
              </a:rPr>
              <a:t>Métricas, impacto
e evolução baseada em dados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715000"/>
            <a:ext cx="9875520" cy="457200"/>
          </a:xfrm>
          <a:prstGeom prst="roundRect">
            <a:avLst/>
          </a:prstGeom>
          <a:solidFill>
            <a:srgbClr val="182A2B"/>
          </a:solidFill>
          <a:ln w="12700">
            <a:solidFill>
              <a:srgbClr val="18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5797296"/>
            <a:ext cx="9509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Tecnologia + negócios + dados para transformar a rotina de quem ensina.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11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t="27003" r="66097" b="34389"/>
          <a:stretch/>
        </p:blipFill>
        <p:spPr>
          <a:xfrm>
            <a:off x="1513101" y="3870820"/>
            <a:ext cx="618836" cy="563419"/>
          </a:xfrm>
          <a:prstGeom prst="rect">
            <a:avLst/>
          </a:prstGeom>
        </p:spPr>
      </p:pic>
      <p:pic>
        <p:nvPicPr>
          <p:cNvPr id="38" name="Imagem 3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22" t="28269" r="37455" b="33123"/>
          <a:stretch/>
        </p:blipFill>
        <p:spPr>
          <a:xfrm>
            <a:off x="4795520" y="3867911"/>
            <a:ext cx="618836" cy="563419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26" t="28269" r="7051" b="33123"/>
          <a:stretch/>
        </p:blipFill>
        <p:spPr>
          <a:xfrm>
            <a:off x="8044596" y="3886199"/>
            <a:ext cx="618836" cy="563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640080"/>
            <a:ext cx="2743200" cy="2743200"/>
          </a:xfrm>
          <a:prstGeom prst="ellipse">
            <a:avLst/>
          </a:prstGeom>
          <a:solidFill>
            <a:srgbClr val="D7EEE4"/>
          </a:solidFill>
          <a:ln>
            <a:solidFill>
              <a:srgbClr val="D7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212080"/>
            <a:ext cx="2194560" cy="2194560"/>
          </a:xfrm>
          <a:prstGeom prst="ellipse">
            <a:avLst/>
          </a:prstGeom>
          <a:solidFill>
            <a:srgbClr val="D7EFF7"/>
          </a:solidFill>
          <a:ln>
            <a:solidFill>
              <a:srgbClr val="D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D9386"/>
                </a:solidFill>
                <a:latin typeface="Aptos"/>
              </a:rPr>
              <a:t>POTENCIALIZA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400800" cy="18745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82A2B"/>
                </a:solidFill>
                <a:latin typeface="Aptos"/>
              </a:rPr>
              <a:t>Cada adaptação é
um aluno que entende
melhor o que está sendo pedido.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12648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7678"/>
                </a:solidFill>
                <a:latin typeface="Aptos"/>
              </a:rPr>
              <a:t>O próximo passo é colocar o MVP nas mãos de mais professores,
medir o impacto e evoluir a solução com base em evidências.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4846320" cy="713232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484632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Aptos"/>
              </a:rPr>
              <a:t>Conheça o MVP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4663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D9386"/>
                </a:solidFill>
                <a:latin typeface="Aptos"/>
              </a:rPr>
              <a:t>inclusive-creator.lovable.app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otencializa_mv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1874519"/>
            <a:ext cx="224028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43434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82A2B"/>
                </a:solidFill>
                <a:latin typeface="Aptos"/>
              </a:rPr>
              <a:t>Acesse o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800600"/>
            <a:ext cx="27432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67678"/>
                </a:solidFill>
                <a:latin typeface="Aptos"/>
              </a:rPr>
              <a:t>Vamos juntos transformar
a rotina dos professores.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676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789</Words>
  <Application>Microsoft Office PowerPoint</Application>
  <PresentationFormat>Widescreen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Conta da Microsoft</cp:lastModifiedBy>
  <cp:revision>10</cp:revision>
  <dcterms:created xsi:type="dcterms:W3CDTF">2013-01-27T09:14:16Z</dcterms:created>
  <dcterms:modified xsi:type="dcterms:W3CDTF">2026-09-20T20:36:51Z</dcterms:modified>
  <cp:category/>
</cp:coreProperties>
</file>